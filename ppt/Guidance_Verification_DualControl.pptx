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A89E"/>
          </a:solidFill>
        </p:spPr>
      </p:sp>
      <p:sp>
        <p:nvSpPr>
          <p:cNvPr id="3" name="Shape 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E0563B"/>
          </a:solidFill>
        </p:spPr>
      </p:sp>
      <p:sp>
        <p:nvSpPr>
          <p:cNvPr id="4" name="Text 2"/>
          <p:cNvSpPr/>
          <p:nvPr/>
        </p:nvSpPr>
        <p:spPr>
          <a:xfrm>
            <a:off x="868680" y="1828800"/>
            <a:ext cx="1060704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Guidance-Level Policy Verification</a:t>
            </a:r>
            <a:endParaRPr lang="en-US" sz="44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 Dual-Control Tool Agents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the user holds the controls — can repairing the agent's guidance recover failures?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4617720"/>
            <a:ext cx="2926080" cy="0"/>
          </a:xfrm>
          <a:prstGeom prst="line">
            <a:avLst/>
          </a:prstGeom>
          <a:noFill/>
          <a:ln w="19050">
            <a:solidFill>
              <a:srgbClr val="3347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800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Yue Cao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τ²-bench  ·  Guidance-Level 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521208"/>
            <a:ext cx="118872" cy="182880"/>
          </a:xfrm>
          <a:prstGeom prst="rect">
            <a:avLst/>
          </a:prstGeom>
          <a:solidFill>
            <a:srgbClr val="1FA89E"/>
          </a:solidFill>
        </p:spPr>
      </p:sp>
      <p:sp>
        <p:nvSpPr>
          <p:cNvPr id="5" name="Text 3"/>
          <p:cNvSpPr/>
          <p:nvPr/>
        </p:nvSpPr>
        <p:spPr>
          <a:xfrm>
            <a:off x="786384" y="466344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1FA8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SETTING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Single-control vs. dual-control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541324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83080"/>
            <a:ext cx="5413248" cy="566928"/>
          </a:xfrm>
          <a:prstGeom prst="rect">
            <a:avLst/>
          </a:prstGeom>
          <a:solidFill>
            <a:srgbClr val="0E1E3A"/>
          </a:solidFill>
        </p:spPr>
      </p:sp>
      <p:sp>
        <p:nvSpPr>
          <p:cNvPr id="9" name="Text 7"/>
          <p:cNvSpPr/>
          <p:nvPr/>
        </p:nvSpPr>
        <p:spPr>
          <a:xfrm>
            <a:off x="841248" y="1783080"/>
            <a:ext cx="49560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SINGLE-CONTROL · τ-bench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4773168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the AGENT acts on the world, via tools.</a:t>
            </a:r>
            <a:endParaRPr lang="en-US" sz="1500" dirty="0"/>
          </a:p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user just supplies information.</a:t>
            </a:r>
            <a:endParaRPr lang="en-US" sz="1500" dirty="0"/>
          </a:p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verifier can inspect — and BLOCK — the tool call.</a:t>
            </a:r>
            <a:endParaRPr lang="en-US" sz="1500" dirty="0"/>
          </a:p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essentially all prior work lives.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08776" y="1788795"/>
            <a:ext cx="541324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08776" y="1783080"/>
            <a:ext cx="5413248" cy="566928"/>
          </a:xfrm>
          <a:prstGeom prst="rect">
            <a:avLst/>
          </a:prstGeom>
          <a:solidFill>
            <a:srgbClr val="E0563B"/>
          </a:solidFill>
        </p:spPr>
      </p:sp>
      <p:sp>
        <p:nvSpPr>
          <p:cNvPr id="13" name="Text 11"/>
          <p:cNvSpPr/>
          <p:nvPr/>
        </p:nvSpPr>
        <p:spPr>
          <a:xfrm>
            <a:off x="6483096" y="1783080"/>
            <a:ext cx="49560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DUAL-CONTROL · τ²-bench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556248" y="2560320"/>
            <a:ext cx="4773168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agent and user act on a shared world (Dec-POMDP).</a:t>
            </a:r>
            <a:endParaRPr lang="en-US" sz="1500" dirty="0"/>
          </a:p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agent must GUIDE the user to take the action.</a:t>
            </a:r>
            <a:endParaRPr lang="en-US" sz="1500" dirty="0"/>
          </a:p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user's action cannot be blocked.</a:t>
            </a:r>
            <a:endParaRPr lang="en-US" sz="1500" dirty="0"/>
          </a:p>
          <a:p>
            <a:pPr marL="342900" indent="-342900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b="1" dirty="0">
                <a:solidFill>
                  <a:srgbClr val="E05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only lever: repair the guidance.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6928" y="5138928"/>
            <a:ext cx="11055096" cy="841248"/>
          </a:xfrm>
          <a:prstGeom prst="rect">
            <a:avLst/>
          </a:prstGeom>
          <a:solidFill>
            <a:srgbClr val="E8F6F4"/>
          </a:solidFill>
          <a:ln w="12700">
            <a:solidFill>
              <a:srgbClr val="1FA8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5138928"/>
            <a:ext cx="118872" cy="841248"/>
          </a:xfrm>
          <a:prstGeom prst="rect">
            <a:avLst/>
          </a:prstGeom>
          <a:solidFill>
            <a:srgbClr val="1FA89E"/>
          </a:solidFill>
        </p:spPr>
      </p:sp>
      <p:sp>
        <p:nvSpPr>
          <p:cNvPr id="17" name="Text 15"/>
          <p:cNvSpPr/>
          <p:nvPr/>
        </p:nvSpPr>
        <p:spPr>
          <a:xfrm>
            <a:off x="886968" y="5138928"/>
            <a:ext cx="1060704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risky action moves from a tool call  →  a natural-language instruction.</a:t>
            </a:r>
            <a:r>
              <a:rPr lang="en-US" sz="1500" b="1" dirty="0">
                <a:solidFill>
                  <a:srgbClr val="1FA8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Result: an 18–25% pass@1 drop vs. single-control (τ²-bench).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τ²-bench  ·  Guidance-Level 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521208"/>
            <a:ext cx="118872" cy="182880"/>
          </a:xfrm>
          <a:prstGeom prst="rect">
            <a:avLst/>
          </a:prstGeom>
          <a:solidFill>
            <a:srgbClr val="E0563B"/>
          </a:solidFill>
        </p:spPr>
      </p:sp>
      <p:sp>
        <p:nvSpPr>
          <p:cNvPr id="5" name="Text 3"/>
          <p:cNvSpPr/>
          <p:nvPr/>
        </p:nvSpPr>
        <p:spPr>
          <a:xfrm>
            <a:off x="786384" y="466344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E05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CONCRETE EXAMPLE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“I'm locked out of my account”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62763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E05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fix:  </a:t>
            </a:r>
            <a:r>
              <a:rPr lang="en-US" sz="1500" i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password reset has to be completed by the user — in their own inbox, on their own device.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148840"/>
            <a:ext cx="3931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2148840"/>
            <a:ext cx="3931920" cy="530352"/>
          </a:xfrm>
          <a:prstGeom prst="rect">
            <a:avLst/>
          </a:prstGeom>
          <a:solidFill>
            <a:srgbClr val="0E1E3A"/>
          </a:solidFill>
        </p:spPr>
      </p:sp>
      <p:sp>
        <p:nvSpPr>
          <p:cNvPr id="10" name="Text 8"/>
          <p:cNvSpPr/>
          <p:nvPr/>
        </p:nvSpPr>
        <p:spPr>
          <a:xfrm>
            <a:off x="822960" y="2148840"/>
            <a:ext cx="3566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SINGLE-CONTROL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41248" y="2880360"/>
            <a:ext cx="3429000" cy="1783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agent calls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E1E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reset_password()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its own tools.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FA8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done directly. Nothing to guide.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727448" y="2148840"/>
            <a:ext cx="6894576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2148840"/>
            <a:ext cx="6894576" cy="530352"/>
          </a:xfrm>
          <a:prstGeom prst="rect">
            <a:avLst/>
          </a:prstGeom>
          <a:solidFill>
            <a:srgbClr val="E0563B"/>
          </a:solidFill>
        </p:spPr>
      </p:sp>
      <p:sp>
        <p:nvSpPr>
          <p:cNvPr id="14" name="Text 12"/>
          <p:cNvSpPr/>
          <p:nvPr/>
        </p:nvSpPr>
        <p:spPr>
          <a:xfrm>
            <a:off x="4983480" y="2148840"/>
            <a:ext cx="6528816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DUAL-CONTROL  (reality)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001768" y="2807208"/>
            <a:ext cx="639165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reset link lands in the USER's inbox — the agent can't open it. It can only instruct: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01768" y="3447288"/>
            <a:ext cx="6345936" cy="603504"/>
          </a:xfrm>
          <a:prstGeom prst="roundRect">
            <a:avLst>
              <a:gd name="adj" fmla="val 15152"/>
            </a:avLst>
          </a:prstGeom>
          <a:solidFill>
            <a:srgbClr val="FBEAE5"/>
          </a:solidFill>
          <a:ln w="12700">
            <a:solidFill>
              <a:srgbClr val="E056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3447288"/>
            <a:ext cx="6071616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9A3B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“Open the reset email we just sent and click the link to set a new password.”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01768" y="4160520"/>
            <a:ext cx="639165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USER performs it. If the agent says this before it has actually sent the email, the user waits — and fails.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5074920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05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cannot block a sentence — </a:t>
            </a:r>
            <a:r>
              <a:rPr lang="en-US" sz="15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can only try to repair it.  That is the entire lever this project studies.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τ²-bench  ·  Guidance-Level 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521208"/>
            <a:ext cx="118872" cy="182880"/>
          </a:xfrm>
          <a:prstGeom prst="rect">
            <a:avLst/>
          </a:prstGeom>
          <a:solidFill>
            <a:srgbClr val="1FA89E"/>
          </a:solidFill>
        </p:spPr>
      </p:sp>
      <p:sp>
        <p:nvSpPr>
          <p:cNvPr id="5" name="Text 3"/>
          <p:cNvSpPr/>
          <p:nvPr/>
        </p:nvSpPr>
        <p:spPr>
          <a:xfrm>
            <a:off x="786384" y="466344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1FA8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DUAL-CONTROL LOOP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How the default agent actually runs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1819656"/>
            <a:ext cx="182880" cy="182880"/>
          </a:xfrm>
          <a:prstGeom prst="ellipse">
            <a:avLst/>
          </a:prstGeom>
          <a:solidFill>
            <a:srgbClr val="0E1E3A"/>
          </a:solidFill>
        </p:spPr>
      </p:sp>
      <p:sp>
        <p:nvSpPr>
          <p:cNvPr id="8" name="Text 6"/>
          <p:cNvSpPr/>
          <p:nvPr/>
        </p:nvSpPr>
        <p:spPr>
          <a:xfrm>
            <a:off x="822960" y="173736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15668" y="1819656"/>
            <a:ext cx="182880" cy="182880"/>
          </a:xfrm>
          <a:prstGeom prst="ellipse">
            <a:avLst/>
          </a:prstGeom>
          <a:solidFill>
            <a:srgbClr val="E0563B"/>
          </a:solidFill>
        </p:spPr>
      </p:sp>
      <p:sp>
        <p:nvSpPr>
          <p:cNvPr id="10" name="Text 8"/>
          <p:cNvSpPr/>
          <p:nvPr/>
        </p:nvSpPr>
        <p:spPr>
          <a:xfrm>
            <a:off x="2171700" y="173736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/ guidance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24528" y="1819656"/>
            <a:ext cx="182880" cy="182880"/>
          </a:xfrm>
          <a:prstGeom prst="ellipse">
            <a:avLst/>
          </a:prstGeom>
          <a:solidFill>
            <a:srgbClr val="1FA89E"/>
          </a:solidFill>
        </p:spPr>
      </p:sp>
      <p:sp>
        <p:nvSpPr>
          <p:cNvPr id="12" name="Text 10"/>
          <p:cNvSpPr/>
          <p:nvPr/>
        </p:nvSpPr>
        <p:spPr>
          <a:xfrm>
            <a:off x="4480560" y="173736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Environment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2724912"/>
            <a:ext cx="1920240" cy="1481328"/>
          </a:xfrm>
          <a:prstGeom prst="roundRect">
            <a:avLst>
              <a:gd name="adj" fmla="val 6173"/>
            </a:avLst>
          </a:prstGeom>
          <a:solidFill>
            <a:srgbClr val="0E1E3A"/>
          </a:solidFill>
          <a:ln w="12700">
            <a:solidFill>
              <a:srgbClr val="DCE3E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2871216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1E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87121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E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2907792"/>
            <a:ext cx="120700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338328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identity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3232" y="3858768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its own tool call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52928" y="2724912"/>
            <a:ext cx="19202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22225">
            <a:solidFill>
              <a:srgbClr val="E0563B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99232" y="2871216"/>
            <a:ext cx="402336" cy="402336"/>
          </a:xfrm>
          <a:prstGeom prst="ellipse">
            <a:avLst/>
          </a:prstGeom>
          <a:solidFill>
            <a:srgbClr val="E0563B"/>
          </a:solidFill>
          <a:ln w="12700">
            <a:solidFill>
              <a:srgbClr val="E056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99232" y="287121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74720" y="2907792"/>
            <a:ext cx="120700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E05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99232" y="338328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“Click the reset link”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999232" y="3858768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→ user (NL)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38928" y="2724912"/>
            <a:ext cx="1920240" cy="1481328"/>
          </a:xfrm>
          <a:prstGeom prst="roundRect">
            <a:avLst>
              <a:gd name="adj" fmla="val 6173"/>
            </a:avLst>
          </a:prstGeom>
          <a:solidFill>
            <a:srgbClr val="E0563B"/>
          </a:solidFill>
          <a:ln w="12700">
            <a:solidFill>
              <a:srgbClr val="DCE3E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85232" y="2871216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56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287121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56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760720" y="2907792"/>
            <a:ext cx="120700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85232" y="338328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Clicks link, resets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285232" y="3858768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their own device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24928" y="2724912"/>
            <a:ext cx="1920240" cy="1481328"/>
          </a:xfrm>
          <a:prstGeom prst="roundRect">
            <a:avLst>
              <a:gd name="adj" fmla="val 6173"/>
            </a:avLst>
          </a:prstGeom>
          <a:solidFill>
            <a:srgbClr val="1FA89E"/>
          </a:solidFill>
          <a:ln w="12700">
            <a:solidFill>
              <a:srgbClr val="DCE3E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571232" y="2871216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A8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71232" y="287121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A89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046720" y="2907792"/>
            <a:ext cx="120700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71232" y="338328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Password updated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571232" y="3858768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state changes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710928" y="2724912"/>
            <a:ext cx="1920240" cy="1481328"/>
          </a:xfrm>
          <a:prstGeom prst="roundRect">
            <a:avLst>
              <a:gd name="adj" fmla="val 6173"/>
            </a:avLst>
          </a:prstGeom>
          <a:solidFill>
            <a:srgbClr val="0E1E3A"/>
          </a:solidFill>
          <a:ln w="12700">
            <a:solidFill>
              <a:srgbClr val="DCE3E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857232" y="2871216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1E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57232" y="287121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E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332720" y="2907792"/>
            <a:ext cx="120700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857232" y="338328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 resolved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9857232" y="3858768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success / fail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505456" y="3465576"/>
            <a:ext cx="329184" cy="0"/>
          </a:xfrm>
          <a:prstGeom prst="line">
            <a:avLst/>
          </a:prstGeom>
          <a:noFill/>
          <a:ln w="31750">
            <a:solidFill>
              <a:srgbClr val="5B7AA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791456" y="3465576"/>
            <a:ext cx="329184" cy="0"/>
          </a:xfrm>
          <a:prstGeom prst="line">
            <a:avLst/>
          </a:prstGeom>
          <a:noFill/>
          <a:ln w="31750">
            <a:solidFill>
              <a:srgbClr val="5B7AA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077456" y="3465576"/>
            <a:ext cx="329184" cy="0"/>
          </a:xfrm>
          <a:prstGeom prst="line">
            <a:avLst/>
          </a:prstGeom>
          <a:noFill/>
          <a:ln w="31750">
            <a:solidFill>
              <a:srgbClr val="5B7AA8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9363456" y="3465576"/>
            <a:ext cx="329184" cy="0"/>
          </a:xfrm>
          <a:prstGeom prst="line">
            <a:avLst/>
          </a:prstGeom>
          <a:noFill/>
          <a:ln w="31750">
            <a:solidFill>
              <a:srgbClr val="5B7AA8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4544568" y="24505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E05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acts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956048" y="4261104"/>
            <a:ext cx="0" cy="274320"/>
          </a:xfrm>
          <a:prstGeom prst="line">
            <a:avLst/>
          </a:prstGeom>
          <a:noFill/>
          <a:ln w="25400">
            <a:solidFill>
              <a:srgbClr val="E0563B"/>
            </a:solidFill>
            <a:prstDash val="solid"/>
            <a:headEnd type="triangle"/>
          </a:ln>
        </p:spPr>
      </p:sp>
      <p:sp>
        <p:nvSpPr>
          <p:cNvPr id="49" name="Shape 47"/>
          <p:cNvSpPr/>
          <p:nvPr/>
        </p:nvSpPr>
        <p:spPr>
          <a:xfrm>
            <a:off x="2852928" y="4590288"/>
            <a:ext cx="4206240" cy="713232"/>
          </a:xfrm>
          <a:prstGeom prst="rect">
            <a:avLst/>
          </a:prstGeom>
          <a:solidFill>
            <a:srgbClr val="FBEAE5"/>
          </a:solidFill>
          <a:ln w="12700">
            <a:solidFill>
              <a:srgbClr val="E056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852928" y="4590288"/>
            <a:ext cx="109728" cy="713232"/>
          </a:xfrm>
          <a:prstGeom prst="rect">
            <a:avLst/>
          </a:prstGeom>
          <a:solidFill>
            <a:srgbClr val="E0563B"/>
          </a:solidFill>
        </p:spPr>
      </p:sp>
      <p:sp>
        <p:nvSpPr>
          <p:cNvPr id="51" name="Text 49"/>
          <p:cNvSpPr/>
          <p:nvPr/>
        </p:nvSpPr>
        <p:spPr>
          <a:xfrm>
            <a:off x="3127248" y="4590288"/>
            <a:ext cx="37490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05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only place I can intervene.  </a:t>
            </a:r>
            <a:r>
              <a:rPr lang="en-US" sz="13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&amp; repair the guidance before the user acts.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566928" y="5870448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Default loop:  </a:t>
            </a:r>
            <a:r>
              <a:rPr lang="en-US" sz="14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diagnose → guide → user acts → check.  The risky action (steps 2→3) happens on the user's side — you can't block it, only repair the guidance.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τ²-bench  ·  Guidance-Level 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521208"/>
            <a:ext cx="118872" cy="182880"/>
          </a:xfrm>
          <a:prstGeom prst="rect">
            <a:avLst/>
          </a:prstGeom>
          <a:solidFill>
            <a:srgbClr val="E0563B"/>
          </a:solidFill>
        </p:spPr>
      </p:sp>
      <p:sp>
        <p:nvSpPr>
          <p:cNvPr id="5" name="Text 3"/>
          <p:cNvSpPr/>
          <p:nvPr/>
        </p:nvSpPr>
        <p:spPr>
          <a:xfrm>
            <a:off x="786384" y="466344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E05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PRIOR WORK STOPS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B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Everyone verifies the agent's own action — and blocks it</a:t>
            </a:r>
            <a:endParaRPr lang="en-US" sz="2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66928" y="1828800"/>
          <a:ext cx="11055096" cy="2724912"/>
        </p:xfrm>
        <a:graphic>
          <a:graphicData uri="http://schemas.openxmlformats.org/drawingml/2006/table">
            <a:tbl>
              <a:tblPr/>
              <a:tblGrid>
                <a:gridCol w="2743200"/>
                <a:gridCol w="2468880"/>
                <a:gridCol w="2926080"/>
                <a:gridCol w="2916936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Prior work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Verifies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Intervention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Works in dual-control?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Solver-Aided ('26)</a:t>
                      </a:r>
                      <a:endParaRPr lang="en-US" sz="14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agent's tool call</a:t>
                      </a:r>
                      <a:endParaRPr lang="en-US" sz="14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block before exec (SMT/Z3)</a:t>
                      </a:r>
                      <a:endParaRPr lang="en-US" sz="14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E05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  user acts, can't block</a:t>
                      </a:r>
                      <a:endParaRPr lang="en-US" sz="14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 Verifier Tax ('26)</a:t>
                      </a:r>
                      <a:endParaRPr lang="en-US" sz="14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agent action</a:t>
                      </a:r>
                      <a:endParaRPr lang="en-US" sz="14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block</a:t>
                      </a:r>
                      <a:endParaRPr lang="en-US" sz="14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5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“block ≠ success”</a:t>
                      </a:r>
                      <a:endParaRPr lang="en-US" sz="14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AgentPex / Willful Disobedience</a:t>
                      </a:r>
                      <a:endParaRPr lang="en-US" sz="14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full trace</a:t>
                      </a:r>
                      <a:endParaRPr lang="en-US" sz="14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offline diagnosis</a:t>
                      </a:r>
                      <a:endParaRPr lang="en-US" sz="14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7C869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passive (no action)</a:t>
                      </a:r>
                      <a:endParaRPr lang="en-US" sz="14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DeepVerifier · SETS</a:t>
                      </a:r>
                      <a:endParaRPr lang="en-US" sz="14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agent's own output</a:t>
                      </a:r>
                      <a:endParaRPr lang="en-US" sz="14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verify → repair</a:t>
                      </a:r>
                      <a:endParaRPr lang="en-US" sz="14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7C869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single-control only</a:t>
                      </a:r>
                      <a:endParaRPr lang="en-US" sz="14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5074920"/>
            <a:ext cx="11055096" cy="868680"/>
          </a:xfrm>
          <a:prstGeom prst="rect">
            <a:avLst/>
          </a:prstGeom>
          <a:solidFill>
            <a:srgbClr val="FBEAE5"/>
          </a:solidFill>
          <a:ln w="12700">
            <a:solidFill>
              <a:srgbClr val="E0563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5074920"/>
            <a:ext cx="118872" cy="868680"/>
          </a:xfrm>
          <a:prstGeom prst="rect">
            <a:avLst/>
          </a:prstGeom>
          <a:solidFill>
            <a:srgbClr val="E0563B"/>
          </a:solidFill>
        </p:spPr>
      </p:sp>
      <p:sp>
        <p:nvSpPr>
          <p:cNvPr id="10" name="Text 7"/>
          <p:cNvSpPr/>
          <p:nvPr/>
        </p:nvSpPr>
        <p:spPr>
          <a:xfrm>
            <a:off x="886968" y="5074920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5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angle:  </a:t>
            </a:r>
            <a:r>
              <a:rPr lang="en-US" sz="15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the user takes the action, blocking is impossible — the only remaining lever is to </a:t>
            </a:r>
            <a:r>
              <a:rPr lang="en-US" sz="15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repair the natural-language guidance</a:t>
            </a:r>
            <a:r>
              <a:rPr lang="en-US" sz="15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before the user acts.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82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τ²-bench  ·  Guidance-Level 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2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A89E"/>
          </a:solidFill>
        </p:spPr>
      </p:sp>
      <p:sp>
        <p:nvSpPr>
          <p:cNvPr id="5" name="Shape 3"/>
          <p:cNvSpPr/>
          <p:nvPr/>
        </p:nvSpPr>
        <p:spPr>
          <a:xfrm>
            <a:off x="914400" y="1389888"/>
            <a:ext cx="118872" cy="182880"/>
          </a:xfrm>
          <a:prstGeom prst="rect">
            <a:avLst/>
          </a:prstGeom>
          <a:solidFill>
            <a:srgbClr val="1FA89E"/>
          </a:solidFill>
        </p:spPr>
      </p:sp>
      <p:sp>
        <p:nvSpPr>
          <p:cNvPr id="6" name="Text 4"/>
          <p:cNvSpPr/>
          <p:nvPr/>
        </p:nvSpPr>
        <p:spPr>
          <a:xfrm>
            <a:off x="1133856" y="1335024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1FA8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IDEA / HYPOTHESIS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1060704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Repair the agent's guidance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before the user acts.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98755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verify→repair loop on the agent→user message channel — the one intervention point with no “block” analogue. If failures are guidance-induced, correcting the guidance should recover them.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τ²-bench  ·  Guidance-Level 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521208"/>
            <a:ext cx="118872" cy="182880"/>
          </a:xfrm>
          <a:prstGeom prst="rect">
            <a:avLst/>
          </a:prstGeom>
          <a:solidFill>
            <a:srgbClr val="1FA89E"/>
          </a:solidFill>
        </p:spPr>
      </p:sp>
      <p:sp>
        <p:nvSpPr>
          <p:cNvPr id="5" name="Text 3"/>
          <p:cNvSpPr/>
          <p:nvPr/>
        </p:nvSpPr>
        <p:spPr>
          <a:xfrm>
            <a:off x="786384" y="466344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1FA8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 · ARCHITECTURE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My guidance verify–repair architecture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0E1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21284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1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 ·  reason ⇄ act loop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24128" y="269748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0E1E3A"/>
          </a:solidFill>
          <a:ln w="12700">
            <a:solidFill>
              <a:srgbClr val="DCE3E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2697480"/>
            <a:ext cx="2551176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policy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24128" y="416052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1FA89E"/>
          </a:solidFill>
          <a:ln w="12700">
            <a:solidFill>
              <a:srgbClr val="DCE3E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4160520"/>
            <a:ext cx="2551176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/ ENV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D9F2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look up · status · …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709928" y="3584448"/>
            <a:ext cx="0" cy="548640"/>
          </a:xfrm>
          <a:prstGeom prst="line">
            <a:avLst/>
          </a:prstGeom>
          <a:noFill/>
          <a:ln w="31750">
            <a:solidFill>
              <a:srgbClr val="5B7AA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95528" y="3730752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 tool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35808" y="3584448"/>
            <a:ext cx="0" cy="548640"/>
          </a:xfrm>
          <a:prstGeom prst="line">
            <a:avLst/>
          </a:prstGeom>
          <a:noFill/>
          <a:ln w="31750">
            <a:solidFill>
              <a:srgbClr val="5B7AA8"/>
            </a:solidFill>
            <a:prstDash val="solid"/>
            <a:headEnd type="triangle"/>
          </a:ln>
        </p:spPr>
      </p:sp>
      <p:sp>
        <p:nvSpPr>
          <p:cNvPr id="16" name="Text 14"/>
          <p:cNvSpPr/>
          <p:nvPr/>
        </p:nvSpPr>
        <p:spPr>
          <a:xfrm>
            <a:off x="3127248" y="3730752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observe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78808" y="3127248"/>
            <a:ext cx="777240" cy="0"/>
          </a:xfrm>
          <a:prstGeom prst="line">
            <a:avLst/>
          </a:prstGeom>
          <a:noFill/>
          <a:ln w="31750">
            <a:solidFill>
              <a:srgbClr val="0E1E3A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023360" y="2542032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b="1" i="1" dirty="0">
                <a:solidFill>
                  <a:srgbClr val="0E1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guidance</a:t>
            </a:r>
            <a:endParaRPr lang="en-US" sz="10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50" b="1" i="1" dirty="0">
                <a:solidFill>
                  <a:srgbClr val="0E1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01768" y="2395728"/>
            <a:ext cx="4434840" cy="1783080"/>
          </a:xfrm>
          <a:prstGeom prst="roundRect">
            <a:avLst>
              <a:gd name="adj" fmla="val 5128"/>
            </a:avLst>
          </a:prstGeom>
          <a:solidFill>
            <a:srgbClr val="FBEAE5"/>
          </a:solidFill>
          <a:ln w="22225">
            <a:solidFill>
              <a:srgbClr val="E056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02936" y="249631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05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METHOD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276088" y="292608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2225">
            <a:solidFill>
              <a:srgbClr val="E0563B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49240" y="2926080"/>
            <a:ext cx="1636776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05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the guidance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32320" y="3401568"/>
            <a:ext cx="457200" cy="0"/>
          </a:xfrm>
          <a:prstGeom prst="line">
            <a:avLst/>
          </a:prstGeom>
          <a:noFill/>
          <a:ln w="31750">
            <a:solidFill>
              <a:srgbClr val="E0563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653528" y="292608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E0563B"/>
          </a:solidFill>
          <a:ln w="12700">
            <a:solidFill>
              <a:srgbClr val="DCE3E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26680" y="2926080"/>
            <a:ext cx="1362456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REPAIR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FBE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rewrite once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436608" y="3127248"/>
            <a:ext cx="502920" cy="0"/>
          </a:xfrm>
          <a:prstGeom prst="line">
            <a:avLst/>
          </a:prstGeom>
          <a:noFill/>
          <a:ln w="31750">
            <a:solidFill>
              <a:srgbClr val="E0563B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9372600" y="27432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030968" y="2670048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2225">
            <a:solidFill>
              <a:srgbClr val="E0563B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104120" y="2670048"/>
            <a:ext cx="1545336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05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acts on the world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876788" y="3630168"/>
            <a:ext cx="0" cy="1856232"/>
          </a:xfrm>
          <a:prstGeom prst="line">
            <a:avLst/>
          </a:prstGeom>
          <a:noFill/>
          <a:ln w="19050">
            <a:solidFill>
              <a:srgbClr val="5B7AA8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2377440" y="5486400"/>
            <a:ext cx="8499348" cy="0"/>
          </a:xfrm>
          <a:prstGeom prst="line">
            <a:avLst/>
          </a:prstGeom>
          <a:noFill/>
          <a:ln w="19050">
            <a:solidFill>
              <a:srgbClr val="5B7AA8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2377440" y="5303520"/>
            <a:ext cx="0" cy="182880"/>
          </a:xfrm>
          <a:prstGeom prst="line">
            <a:avLst/>
          </a:prstGeom>
          <a:noFill/>
          <a:ln w="19050">
            <a:solidFill>
              <a:srgbClr val="5B7AA8"/>
            </a:solidFill>
            <a:prstDash val="dash"/>
            <a:headEnd type="triangle"/>
          </a:ln>
        </p:spPr>
      </p:sp>
      <p:sp>
        <p:nvSpPr>
          <p:cNvPr id="33" name="Text 31"/>
          <p:cNvSpPr/>
          <p:nvPr/>
        </p:nvSpPr>
        <p:spPr>
          <a:xfrm>
            <a:off x="566928" y="5596128"/>
            <a:ext cx="1105509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7A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user's action changes the shared world  →  the agent observes again and continues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τ²-bench  ·  Guidance-Level 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521208"/>
            <a:ext cx="118872" cy="182880"/>
          </a:xfrm>
          <a:prstGeom prst="rect">
            <a:avLst/>
          </a:prstGeom>
          <a:solidFill>
            <a:srgbClr val="1FA89E"/>
          </a:solidFill>
        </p:spPr>
      </p:sp>
      <p:sp>
        <p:nvSpPr>
          <p:cNvPr id="5" name="Text 3"/>
          <p:cNvSpPr/>
          <p:nvPr/>
        </p:nvSpPr>
        <p:spPr>
          <a:xfrm>
            <a:off x="786384" y="466344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1FA8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BENCHMARK &amp; EVALUATION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B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τ²-bench Telecom — what a test task looks like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6537960" cy="3611880"/>
          </a:xfrm>
          <a:prstGeom prst="rect">
            <a:avLst/>
          </a:prstGeom>
          <a:solidFill>
            <a:srgbClr val="0E1E3A"/>
          </a:solidFill>
          <a:ln w="12700">
            <a:solidFill>
              <a:srgbClr val="0E1E3A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1947672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FA8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TASK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" y="2240280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[mms_issue]  break_apn · break_app_permission   ·   PERSONA: Hard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" y="2624328"/>
            <a:ext cx="5989320" cy="0"/>
          </a:xfrm>
          <a:prstGeom prst="line">
            <a:avLst/>
          </a:prstGeom>
          <a:noFill/>
          <a:ln w="12700">
            <a:solidFill>
              <a:srgbClr val="3347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770632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C93B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initial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578608" y="2770632"/>
            <a:ext cx="42519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APN misconfigured · MMS app lacks permission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3200400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C93B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agent tools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78608" y="3200400"/>
            <a:ext cx="42519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look up line · plan · network status 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3630168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C93B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user tools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78608" y="3630168"/>
            <a:ext cx="42519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reset APN · grant permission   (on the device)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4059936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C93B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success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578608" y="4059936"/>
            <a:ext cx="42519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env_assertion:  APN == default  AND  permission granted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4572000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C93B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reward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578608" y="4572000"/>
            <a:ext cx="42519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A8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  if ALL assertions hold at the end, else 0   (binary)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79208" y="1783080"/>
            <a:ext cx="424281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79208" y="1783080"/>
            <a:ext cx="118872" cy="1737360"/>
          </a:xfrm>
          <a:prstGeom prst="rect">
            <a:avLst/>
          </a:prstGeom>
          <a:solidFill>
            <a:srgbClr val="5B7AA8"/>
          </a:solidFill>
        </p:spPr>
      </p:sp>
      <p:sp>
        <p:nvSpPr>
          <p:cNvPr id="23" name="Text 21"/>
          <p:cNvSpPr/>
          <p:nvPr/>
        </p:nvSpPr>
        <p:spPr>
          <a:xfrm>
            <a:off x="7653528" y="1920240"/>
            <a:ext cx="37856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5B7A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SETUP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53528" y="2258568"/>
            <a:ext cx="3739896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+ user sim: gpt-4.1-mini (temp 0)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verifier: gpt-4o-mini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API-only · no training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79208" y="3657600"/>
            <a:ext cx="424281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79208" y="3657600"/>
            <a:ext cx="118872" cy="1737360"/>
          </a:xfrm>
          <a:prstGeom prst="rect">
            <a:avLst/>
          </a:prstGeom>
          <a:solidFill>
            <a:srgbClr val="E0563B"/>
          </a:solidFill>
        </p:spPr>
      </p:sp>
      <p:sp>
        <p:nvSpPr>
          <p:cNvPr id="27" name="Text 25"/>
          <p:cNvSpPr/>
          <p:nvPr/>
        </p:nvSpPr>
        <p:spPr>
          <a:xfrm>
            <a:off x="7653528" y="3794760"/>
            <a:ext cx="37856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05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653528" y="4133088"/>
            <a:ext cx="3739896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pass@1 · pass^k (reliability)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guidance-induced vs agent-action share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verifier tokens · cost / solved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66928" y="5532120"/>
            <a:ext cx="1105509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task sets:  telecom_small (20, single-fault, curated)   ·   telecom_full (60 sampled, median 5 faults).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τ²-bench  ·  Guidance-Level 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521208"/>
            <a:ext cx="118872" cy="182880"/>
          </a:xfrm>
          <a:prstGeom prst="rect">
            <a:avLst/>
          </a:prstGeom>
          <a:solidFill>
            <a:srgbClr val="E0563B"/>
          </a:solidFill>
        </p:spPr>
      </p:sp>
      <p:sp>
        <p:nvSpPr>
          <p:cNvPr id="5" name="Text 3"/>
          <p:cNvSpPr/>
          <p:nvPr/>
        </p:nvSpPr>
        <p:spPr>
          <a:xfrm>
            <a:off x="786384" y="466344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E05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EXPERIMENTAL CONDITIONS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Five conditions — an ablation ladder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66928" y="1828800"/>
          <a:ext cx="11055096" cy="3346704"/>
        </p:xfrm>
        <a:graphic>
          <a:graphicData uri="http://schemas.openxmlformats.org/drawingml/2006/table">
            <a:tbl>
              <a:tblPr/>
              <a:tblGrid>
                <a:gridCol w="3063240"/>
                <a:gridCol w="3931920"/>
                <a:gridCol w="4059936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Condition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What it does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What it isolates / why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7C8696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default</a:t>
                      </a:r>
                      <a:endParaRPr lang="en-US" sz="13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intervention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baseline — reproduces the dual-control drop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7C8696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action_verifier</a:t>
                      </a:r>
                      <a:endParaRPr lang="en-US" sz="13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verify the agent's own tool calls (no-op on guidance)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 prior-art paradigm — shows it can't touch guidance failures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5B7AA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self_verify</a:t>
                      </a:r>
                      <a:endParaRPr lang="en-US" sz="13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repair guidance with NO policy grounding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isolates the value of policy grounding (SETS-style ablation)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5B7AA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guidance_verify</a:t>
                      </a:r>
                      <a:endParaRPr lang="en-US" sz="13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grounded verify, but NO repair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isolates detection vs. acting (detect-only)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E0563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guidance_verify_repair</a:t>
                      </a:r>
                      <a:endParaRPr lang="en-US" sz="13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grounded verify + repair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05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my full method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5440680"/>
            <a:ext cx="11055096" cy="777240"/>
          </a:xfrm>
          <a:prstGeom prst="rect">
            <a:avLst/>
          </a:prstGeom>
          <a:solidFill>
            <a:srgbClr val="E8F6F4"/>
          </a:solidFill>
          <a:ln w="12700">
            <a:solidFill>
              <a:srgbClr val="1FA89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5440680"/>
            <a:ext cx="118872" cy="777240"/>
          </a:xfrm>
          <a:prstGeom prst="rect">
            <a:avLst/>
          </a:prstGeom>
          <a:solidFill>
            <a:srgbClr val="1FA89E"/>
          </a:solidFill>
        </p:spPr>
      </p:sp>
      <p:sp>
        <p:nvSpPr>
          <p:cNvPr id="7" name="Text 7"/>
          <p:cNvSpPr/>
          <p:nvPr/>
        </p:nvSpPr>
        <p:spPr>
          <a:xfrm>
            <a:off x="886968" y="544068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FA8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design:  </a:t>
            </a:r>
            <a:r>
              <a:rPr lang="en-US" sz="14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five share the same base agent and differ ONLY at the hook — so each rung turns off exactly one ingredient, giving clean attribution of where any gain (or harm) comes from.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τ²-bench  ·  Guidance-Level 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521208"/>
            <a:ext cx="118872" cy="182880"/>
          </a:xfrm>
          <a:prstGeom prst="rect">
            <a:avLst/>
          </a:prstGeom>
          <a:solidFill>
            <a:srgbClr val="1FA89E"/>
          </a:solidFill>
        </p:spPr>
      </p:sp>
      <p:sp>
        <p:nvSpPr>
          <p:cNvPr id="5" name="Text 3"/>
          <p:cNvSpPr/>
          <p:nvPr/>
        </p:nvSpPr>
        <p:spPr>
          <a:xfrm>
            <a:off x="786384" y="466344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1FA8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 1 · MOTIVATION CONFIRMED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Most failures are guidance-induced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telecom_small · default baseline (20 tasks × 4 trials)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965960"/>
            <a:ext cx="52120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FA89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89%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566928" y="3218688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failing tasks are guidance-induced   </a:t>
            </a:r>
            <a:r>
              <a:rPr lang="en-US" sz="1600" b="1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(8 of 9)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" y="3822192"/>
            <a:ext cx="5257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7A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93%</a:t>
            </a:r>
            <a:r>
              <a:rPr lang="en-US" sz="15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counted per trial   (14 of 15)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" y="4498848"/>
            <a:ext cx="53035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Attributed via τ²-bench ground-truth: a failed check whose requestor / env_type is "user" — the agent had to guide the user, and the guidance failed.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46520" y="1828800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FAILURE COMPOSITION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2121408"/>
            <a:ext cx="5074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failing task  ·  n = 9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46520" y="2395728"/>
            <a:ext cx="4511040" cy="658368"/>
          </a:xfrm>
          <a:prstGeom prst="rect">
            <a:avLst/>
          </a:prstGeom>
          <a:solidFill>
            <a:srgbClr val="1FA89E"/>
          </a:solidFill>
        </p:spPr>
      </p:sp>
      <p:sp>
        <p:nvSpPr>
          <p:cNvPr id="15" name="Shape 13"/>
          <p:cNvSpPr/>
          <p:nvPr/>
        </p:nvSpPr>
        <p:spPr>
          <a:xfrm>
            <a:off x="10957560" y="2395728"/>
            <a:ext cx="563880" cy="658368"/>
          </a:xfrm>
          <a:prstGeom prst="rect">
            <a:avLst/>
          </a:prstGeom>
          <a:solidFill>
            <a:srgbClr val="7C8696"/>
          </a:solidFill>
        </p:spPr>
      </p:sp>
      <p:sp>
        <p:nvSpPr>
          <p:cNvPr id="16" name="Text 14"/>
          <p:cNvSpPr/>
          <p:nvPr/>
        </p:nvSpPr>
        <p:spPr>
          <a:xfrm>
            <a:off x="6446520" y="2395728"/>
            <a:ext cx="4511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guidance  8 / 9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57560" y="2395728"/>
            <a:ext cx="5638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3337560"/>
            <a:ext cx="5074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trial  ·  n = 15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46520" y="3611880"/>
            <a:ext cx="4736592" cy="658368"/>
          </a:xfrm>
          <a:prstGeom prst="rect">
            <a:avLst/>
          </a:prstGeom>
          <a:solidFill>
            <a:srgbClr val="1FA89E"/>
          </a:solidFill>
        </p:spPr>
      </p:sp>
      <p:sp>
        <p:nvSpPr>
          <p:cNvPr id="20" name="Shape 18"/>
          <p:cNvSpPr/>
          <p:nvPr/>
        </p:nvSpPr>
        <p:spPr>
          <a:xfrm>
            <a:off x="11183112" y="3611880"/>
            <a:ext cx="338328" cy="658368"/>
          </a:xfrm>
          <a:prstGeom prst="rect">
            <a:avLst/>
          </a:prstGeom>
          <a:solidFill>
            <a:srgbClr val="7C8696"/>
          </a:solidFill>
        </p:spPr>
      </p:sp>
      <p:sp>
        <p:nvSpPr>
          <p:cNvPr id="21" name="Text 19"/>
          <p:cNvSpPr/>
          <p:nvPr/>
        </p:nvSpPr>
        <p:spPr>
          <a:xfrm>
            <a:off x="6446520" y="3611880"/>
            <a:ext cx="473659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guidance  14 / 15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83112" y="3611880"/>
            <a:ext cx="33832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46520" y="4526280"/>
            <a:ext cx="201168" cy="201168"/>
          </a:xfrm>
          <a:prstGeom prst="rect">
            <a:avLst/>
          </a:prstGeom>
          <a:solidFill>
            <a:srgbClr val="1FA89E"/>
          </a:solidFill>
        </p:spPr>
      </p:sp>
      <p:sp>
        <p:nvSpPr>
          <p:cNvPr id="24" name="Text 22"/>
          <p:cNvSpPr/>
          <p:nvPr/>
        </p:nvSpPr>
        <p:spPr>
          <a:xfrm>
            <a:off x="6720840" y="448970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guidance-induced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823960" y="4526280"/>
            <a:ext cx="201168" cy="201168"/>
          </a:xfrm>
          <a:prstGeom prst="rect">
            <a:avLst/>
          </a:prstGeom>
          <a:solidFill>
            <a:srgbClr val="7C8696"/>
          </a:solidFill>
        </p:spPr>
      </p:sp>
      <p:sp>
        <p:nvSpPr>
          <p:cNvPr id="26" name="Text 24"/>
          <p:cNvSpPr/>
          <p:nvPr/>
        </p:nvSpPr>
        <p:spPr>
          <a:xfrm>
            <a:off x="9098280" y="448970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agent-action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46520" y="4983480"/>
            <a:ext cx="5074920" cy="960120"/>
          </a:xfrm>
          <a:prstGeom prst="rect">
            <a:avLst/>
          </a:prstGeom>
          <a:solidFill>
            <a:srgbClr val="E8F6F4"/>
          </a:solidFill>
          <a:ln w="12700">
            <a:solidFill>
              <a:srgbClr val="1FA89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46520" y="4983480"/>
            <a:ext cx="118872" cy="960120"/>
          </a:xfrm>
          <a:prstGeom prst="rect">
            <a:avLst/>
          </a:prstGeom>
          <a:solidFill>
            <a:srgbClr val="1FA89E"/>
          </a:solidFill>
        </p:spPr>
      </p:sp>
      <p:sp>
        <p:nvSpPr>
          <p:cNvPr id="29" name="Text 27"/>
          <p:cNvSpPr/>
          <p:nvPr/>
        </p:nvSpPr>
        <p:spPr>
          <a:xfrm>
            <a:off x="6720840" y="4983480"/>
            <a:ext cx="46177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A8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premise holds. </a:t>
            </a:r>
            <a:r>
              <a:rPr lang="en-US" sz="13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Guidance dominates even after de-duplicating repeated failures to distinct tasks — the channel prior blocking-based verifiers cannot touch.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τ²-bench  ·  Guidance-Level 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521208"/>
            <a:ext cx="118872" cy="182880"/>
          </a:xfrm>
          <a:prstGeom prst="rect">
            <a:avLst/>
          </a:prstGeom>
          <a:solidFill>
            <a:srgbClr val="E0563B"/>
          </a:solidFill>
        </p:spPr>
      </p:sp>
      <p:sp>
        <p:nvSpPr>
          <p:cNvPr id="5" name="Text 3"/>
          <p:cNvSpPr/>
          <p:nvPr/>
        </p:nvSpPr>
        <p:spPr>
          <a:xfrm>
            <a:off x="786384" y="466344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E05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 2 · THE METHOD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But repair never beats default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4892040"/>
            <a:ext cx="10424160" cy="0"/>
          </a:xfrm>
          <a:prstGeom prst="line">
            <a:avLst/>
          </a:prstGeom>
          <a:noFill/>
          <a:ln w="12700">
            <a:solidFill>
              <a:srgbClr val="DCE3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855214"/>
            <a:ext cx="10424160" cy="0"/>
          </a:xfrm>
          <a:prstGeom prst="line">
            <a:avLst/>
          </a:prstGeom>
          <a:noFill/>
          <a:ln w="12700">
            <a:solidFill>
              <a:srgbClr val="0E1E3A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881360" y="2690622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default</a:t>
            </a:r>
            <a:endParaRPr lang="en-US" sz="105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baseline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1248" y="2855214"/>
            <a:ext cx="1463040" cy="2036826"/>
          </a:xfrm>
          <a:prstGeom prst="rect">
            <a:avLst/>
          </a:prstGeom>
          <a:solidFill>
            <a:srgbClr val="0E1E3A"/>
          </a:solidFill>
        </p:spPr>
      </p:sp>
      <p:sp>
        <p:nvSpPr>
          <p:cNvPr id="11" name="Text 9"/>
          <p:cNvSpPr/>
          <p:nvPr/>
        </p:nvSpPr>
        <p:spPr>
          <a:xfrm>
            <a:off x="749808" y="256260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E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0.825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335" y="4965065"/>
            <a:ext cx="22682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default</a:t>
            </a:r>
            <a:endParaRPr lang="en-US" sz="1400" dirty="0">
              <a:solidFill>
                <a:srgbClr val="1B2A4A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962656" y="2793492"/>
            <a:ext cx="1463040" cy="2098548"/>
          </a:xfrm>
          <a:prstGeom prst="rect">
            <a:avLst/>
          </a:prstGeom>
          <a:solidFill>
            <a:srgbClr val="5B7AA8"/>
          </a:solidFill>
        </p:spPr>
      </p:sp>
      <p:sp>
        <p:nvSpPr>
          <p:cNvPr id="14" name="Text 12"/>
          <p:cNvSpPr/>
          <p:nvPr/>
        </p:nvSpPr>
        <p:spPr>
          <a:xfrm>
            <a:off x="2871216" y="2500884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7AA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0.850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42870" y="4965065"/>
            <a:ext cx="22682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action_verifier</a:t>
            </a:r>
            <a:endParaRPr lang="en-US" sz="1400" dirty="0">
              <a:solidFill>
                <a:srgbClr val="1B2A4A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84064" y="3040380"/>
            <a:ext cx="1463040" cy="1851660"/>
          </a:xfrm>
          <a:prstGeom prst="rect">
            <a:avLst/>
          </a:prstGeom>
          <a:solidFill>
            <a:srgbClr val="5B7AA8"/>
          </a:solidFill>
        </p:spPr>
      </p:sp>
      <p:sp>
        <p:nvSpPr>
          <p:cNvPr id="17" name="Text 15"/>
          <p:cNvSpPr/>
          <p:nvPr/>
        </p:nvSpPr>
        <p:spPr>
          <a:xfrm>
            <a:off x="4992624" y="274777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7AA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0.750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63770" y="4965065"/>
            <a:ext cx="22682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guidance_verify</a:t>
            </a:r>
            <a:endParaRPr lang="en-US" sz="1400" dirty="0">
              <a:solidFill>
                <a:srgbClr val="1B2A4A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205472" y="3040380"/>
            <a:ext cx="1463040" cy="1851660"/>
          </a:xfrm>
          <a:prstGeom prst="rect">
            <a:avLst/>
          </a:prstGeom>
          <a:solidFill>
            <a:srgbClr val="7C8696"/>
          </a:solidFill>
        </p:spPr>
      </p:sp>
      <p:sp>
        <p:nvSpPr>
          <p:cNvPr id="20" name="Text 18"/>
          <p:cNvSpPr/>
          <p:nvPr/>
        </p:nvSpPr>
        <p:spPr>
          <a:xfrm>
            <a:off x="7114032" y="274777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869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0.750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85305" y="4965065"/>
            <a:ext cx="22682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self_verify</a:t>
            </a:r>
            <a:endParaRPr lang="en-US" sz="1400" dirty="0">
              <a:solidFill>
                <a:srgbClr val="1B2A4A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326880" y="2855214"/>
            <a:ext cx="1463040" cy="2036826"/>
          </a:xfrm>
          <a:prstGeom prst="rect">
            <a:avLst/>
          </a:prstGeom>
          <a:solidFill>
            <a:srgbClr val="E0563B"/>
          </a:solidFill>
        </p:spPr>
      </p:sp>
      <p:sp>
        <p:nvSpPr>
          <p:cNvPr id="23" name="Text 21"/>
          <p:cNvSpPr/>
          <p:nvPr/>
        </p:nvSpPr>
        <p:spPr>
          <a:xfrm>
            <a:off x="9235440" y="256260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56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0.825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06840" y="4965065"/>
            <a:ext cx="22682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guidance_verify_repair</a:t>
            </a:r>
            <a:endParaRPr lang="en-US" sz="1400" dirty="0">
              <a:solidFill>
                <a:srgbClr val="1B2A4A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41248" y="1783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pass@1 — telecom_small, 20 tasks × 2 trials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5897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Higher-power check (trials=4):  </a:t>
            </a:r>
            <a:r>
              <a:rPr lang="en-US" sz="14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default 0.7875  ≥  repair 0.775.   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τ²-bench  ·  Guidance-Level 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521208"/>
            <a:ext cx="118872" cy="182880"/>
          </a:xfrm>
          <a:prstGeom prst="rect">
            <a:avLst/>
          </a:prstGeom>
          <a:solidFill>
            <a:srgbClr val="E0563B"/>
          </a:solidFill>
        </p:spPr>
      </p:sp>
      <p:sp>
        <p:nvSpPr>
          <p:cNvPr id="5" name="Text 3"/>
          <p:cNvSpPr/>
          <p:nvPr/>
        </p:nvSpPr>
        <p:spPr>
          <a:xfrm>
            <a:off x="786384" y="466344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E05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 3 · THE CEILING (DECISIVE)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Even a perfect verifier+repair barely moves it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Oracle upper bound = </a:t>
            </a:r>
            <a:r>
              <a:rPr lang="en-US" sz="1400" i="1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perfect recall (review every msg) + strong model + perfect selector (per-task max). No real method can exceed it.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566928" y="2240280"/>
          <a:ext cx="11055096" cy="1819656"/>
        </p:xfrm>
        <a:graphic>
          <a:graphicData uri="http://schemas.openxmlformats.org/drawingml/2006/table">
            <a:tbl>
              <a:tblPr/>
              <a:tblGrid>
                <a:gridCol w="3191256"/>
                <a:gridCol w="1965960"/>
                <a:gridCol w="1965960"/>
                <a:gridCol w="1965960"/>
                <a:gridCol w="1965960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Setting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default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repair-all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oracle (max)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headroom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telecom_small (20)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0.900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05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0.800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0.900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05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+0.000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telecom_full (60)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0.250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05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0.200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0.300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05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+0.050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4160520"/>
            <a:ext cx="541324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" y="4160520"/>
            <a:ext cx="118872" cy="1691640"/>
          </a:xfrm>
          <a:prstGeom prst="rect">
            <a:avLst/>
          </a:prstGeom>
          <a:solidFill>
            <a:srgbClr val="5B7AA8"/>
          </a:solidFill>
        </p:spPr>
      </p:sp>
      <p:sp>
        <p:nvSpPr>
          <p:cNvPr id="11" name="Text 8"/>
          <p:cNvSpPr/>
          <p:nvPr/>
        </p:nvSpPr>
        <p:spPr>
          <a:xfrm>
            <a:off x="886968" y="4160520"/>
            <a:ext cx="4937760" cy="169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5B7A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Easy set = ceiling effect
</a:t>
            </a:r>
            <a:r>
              <a:rPr lang="en-US" sz="13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default already 0.900; the 2 residual failures are timeouts, not guidance violations.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08776" y="4160520"/>
            <a:ext cx="5413248" cy="1691640"/>
          </a:xfrm>
          <a:prstGeom prst="rect">
            <a:avLst/>
          </a:prstGeom>
          <a:solidFill>
            <a:srgbClr val="FBEAE5"/>
          </a:solidFill>
          <a:ln w="12700">
            <a:solidFill>
              <a:srgbClr val="E0563B"/>
            </a:solidFill>
            <a:prstDash val="solid"/>
          </a:ln>
        </p:spPr>
      </p:sp>
      <p:sp>
        <p:nvSpPr>
          <p:cNvPr id="8" name="Shape 10"/>
          <p:cNvSpPr/>
          <p:nvPr/>
        </p:nvSpPr>
        <p:spPr>
          <a:xfrm>
            <a:off x="6208776" y="4160520"/>
            <a:ext cx="118872" cy="1691640"/>
          </a:xfrm>
          <a:prstGeom prst="rect">
            <a:avLst/>
          </a:prstGeom>
          <a:solidFill>
            <a:srgbClr val="E0563B"/>
          </a:solidFill>
        </p:spPr>
      </p:sp>
      <p:sp>
        <p:nvSpPr>
          <p:cNvPr id="14" name="Text 11"/>
          <p:cNvSpPr/>
          <p:nvPr/>
        </p:nvSpPr>
        <p:spPr>
          <a:xfrm>
            <a:off x="6528816" y="4160520"/>
            <a:ext cx="4937760" cy="169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05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 set = real but tiny
</a:t>
            </a:r>
            <a:r>
              <a:rPr lang="en-US" sz="13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repair fixed 3 real failures but BROKE 6. Net-negative; ceiling only +0.050 (3/60).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τ²-bench  ·  Guidance-Level 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521208"/>
            <a:ext cx="118872" cy="182880"/>
          </a:xfrm>
          <a:prstGeom prst="rect">
            <a:avLst/>
          </a:prstGeom>
          <a:solidFill>
            <a:srgbClr val="E0563B"/>
          </a:solidFill>
        </p:spPr>
      </p:sp>
      <p:sp>
        <p:nvSpPr>
          <p:cNvPr id="5" name="Text 3"/>
          <p:cNvSpPr/>
          <p:nvPr/>
        </p:nvSpPr>
        <p:spPr>
          <a:xfrm>
            <a:off x="786384" y="466344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E05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ANALYSIS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Limitations of my experiments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1920240"/>
            <a:ext cx="5394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920240"/>
            <a:ext cx="118872" cy="1783080"/>
          </a:xfrm>
          <a:prstGeom prst="rect">
            <a:avLst/>
          </a:prstGeom>
          <a:solidFill>
            <a:srgbClr val="E0563B"/>
          </a:solidFill>
        </p:spPr>
      </p:sp>
      <p:sp>
        <p:nvSpPr>
          <p:cNvPr id="9" name="Text 7"/>
          <p:cNvSpPr/>
          <p:nvPr/>
        </p:nvSpPr>
        <p:spPr>
          <a:xfrm>
            <a:off x="932688" y="2176272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Small, narrow sample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2670048"/>
            <a:ext cx="47091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~9 of 20 tasks ever fail — a few-task gap sits within noise. trials = 2–4, no confidence intervals.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08776" y="1920240"/>
            <a:ext cx="5394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08776" y="1920240"/>
            <a:ext cx="118872" cy="1783080"/>
          </a:xfrm>
          <a:prstGeom prst="rect">
            <a:avLst/>
          </a:prstGeom>
          <a:solidFill>
            <a:srgbClr val="E0563B"/>
          </a:solidFill>
        </p:spPr>
      </p:sp>
      <p:sp>
        <p:nvSpPr>
          <p:cNvPr id="13" name="Text 11"/>
          <p:cNvSpPr/>
          <p:nvPr/>
        </p:nvSpPr>
        <p:spPr>
          <a:xfrm>
            <a:off x="6574536" y="2176272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Noise ≥ the effect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74536" y="2670048"/>
            <a:ext cx="47091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guidance_verify is a no-op control, yet differs ±0.05 from default at temp 0.7 — the same size as the oracle headroom.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3955923"/>
            <a:ext cx="5394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3950208"/>
            <a:ext cx="118872" cy="1783080"/>
          </a:xfrm>
          <a:prstGeom prst="rect">
            <a:avLst/>
          </a:prstGeom>
          <a:solidFill>
            <a:srgbClr val="E0563B"/>
          </a:solidFill>
        </p:spPr>
      </p:sp>
      <p:sp>
        <p:nvSpPr>
          <p:cNvPr id="17" name="Text 15"/>
          <p:cNvSpPr/>
          <p:nvPr/>
        </p:nvSpPr>
        <p:spPr>
          <a:xfrm>
            <a:off x="932688" y="420624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Limited coverage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32688" y="4700016"/>
            <a:ext cx="47091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full 5-method comparison is only on the easy (ceiling) set; the hard set has just the oracle bound. One base agent, one domain.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08776" y="3950208"/>
            <a:ext cx="5394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08776" y="3950208"/>
            <a:ext cx="118872" cy="1783080"/>
          </a:xfrm>
          <a:prstGeom prst="rect">
            <a:avLst/>
          </a:prstGeom>
          <a:solidFill>
            <a:srgbClr val="E0563B"/>
          </a:solidFill>
        </p:spPr>
      </p:sp>
      <p:sp>
        <p:nvSpPr>
          <p:cNvPr id="21" name="Text 19"/>
          <p:cNvSpPr/>
          <p:nvPr/>
        </p:nvSpPr>
        <p:spPr>
          <a:xfrm>
            <a:off x="6574536" y="420624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Simulated users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74536" y="4700016"/>
            <a:ext cx="47091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user is an LLM simulator — its behaviour may not match how real users follow guidance.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τ²-bench  ·  Guidance-Level 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521208"/>
            <a:ext cx="118872" cy="182880"/>
          </a:xfrm>
          <a:prstGeom prst="rect">
            <a:avLst/>
          </a:prstGeom>
          <a:solidFill>
            <a:srgbClr val="1FA89E"/>
          </a:solidFill>
        </p:spPr>
      </p:sp>
      <p:sp>
        <p:nvSpPr>
          <p:cNvPr id="5" name="Text 3"/>
          <p:cNvSpPr/>
          <p:nvPr/>
        </p:nvSpPr>
        <p:spPr>
          <a:xfrm>
            <a:off x="786384" y="466344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1FA8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WORK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I'd try next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658368" cy="658368"/>
          </a:xfrm>
          <a:prstGeom prst="ellipse">
            <a:avLst/>
          </a:prstGeom>
          <a:solidFill>
            <a:srgbClr val="1FA89E"/>
          </a:solidFill>
        </p:spPr>
      </p:sp>
      <p:sp>
        <p:nvSpPr>
          <p:cNvPr id="8" name="Text 6"/>
          <p:cNvSpPr/>
          <p:nvPr/>
        </p:nvSpPr>
        <p:spPr>
          <a:xfrm>
            <a:off x="566928" y="1828800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27048" y="181051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more experiments across difficulty levels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27048" y="233172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the real methods — not just the oracle — on the harder, multi-fault tasks; add more trials, and try other domains.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2926080"/>
            <a:ext cx="658368" cy="658368"/>
          </a:xfrm>
          <a:prstGeom prst="ellipse">
            <a:avLst/>
          </a:prstGeom>
          <a:solidFill>
            <a:srgbClr val="0E1E3A"/>
          </a:solidFill>
        </p:spPr>
      </p:sp>
      <p:sp>
        <p:nvSpPr>
          <p:cNvPr id="12" name="Text 10"/>
          <p:cNvSpPr/>
          <p:nvPr/>
        </p:nvSpPr>
        <p:spPr>
          <a:xfrm>
            <a:off x="566928" y="2926080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27048" y="29077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Adjust the architecture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27048" y="342900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 the check to the agent's plan / diagnosis instead of the final guidance message.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6928" y="4023360"/>
            <a:ext cx="658368" cy="658368"/>
          </a:xfrm>
          <a:prstGeom prst="ellipse">
            <a:avLst/>
          </a:prstGeom>
          <a:solidFill>
            <a:srgbClr val="5B7AA8"/>
          </a:solidFill>
        </p:spPr>
      </p:sp>
      <p:sp>
        <p:nvSpPr>
          <p:cNvPr id="16" name="Text 14"/>
          <p:cNvSpPr/>
          <p:nvPr/>
        </p:nvSpPr>
        <p:spPr>
          <a:xfrm>
            <a:off x="566928" y="4023360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27048" y="400507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 repair more conservative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27048" y="452628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Fire repair only when the verifier is confident, so it stops breaking correct guidance.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6928" y="5120640"/>
            <a:ext cx="658368" cy="658368"/>
          </a:xfrm>
          <a:prstGeom prst="ellipse">
            <a:avLst/>
          </a:prstGeom>
          <a:solidFill>
            <a:srgbClr val="E0563B"/>
          </a:solidFill>
        </p:spPr>
      </p:sp>
      <p:sp>
        <p:nvSpPr>
          <p:cNvPr id="20" name="Text 18"/>
          <p:cNvSpPr/>
          <p:nvPr/>
        </p:nvSpPr>
        <p:spPr>
          <a:xfrm>
            <a:off x="566928" y="5120640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527048" y="510235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Finer error analysis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27048" y="562356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7C86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 which step in the conversation caused each failure — not just the final outcome.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A89E"/>
          </a:solidFill>
        </p:spPr>
      </p:sp>
      <p:sp>
        <p:nvSpPr>
          <p:cNvPr id="3" name="Shape 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E0563B"/>
          </a:solidFill>
        </p:spPr>
      </p:sp>
      <p:sp>
        <p:nvSpPr>
          <p:cNvPr id="4" name="Text 2"/>
          <p:cNvSpPr/>
          <p:nvPr/>
        </p:nvSpPr>
        <p:spPr>
          <a:xfrm>
            <a:off x="914400" y="210312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you.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7671</Words>
  <Application>WPS Presentation</Application>
  <PresentationFormat>On-screen Show (16:9)</PresentationFormat>
  <Paragraphs>485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宋体</vt:lpstr>
      <vt:lpstr>Wingdings</vt:lpstr>
      <vt:lpstr>Georgia</vt:lpstr>
      <vt:lpstr>Georgia</vt:lpstr>
      <vt:lpstr>Georgia</vt:lpstr>
      <vt:lpstr>Calibri</vt:lpstr>
      <vt:lpstr>Calibri</vt:lpstr>
      <vt:lpstr>Calibri</vt:lpstr>
      <vt:lpstr>Consolas</vt:lpstr>
      <vt:lpstr>Consolas</vt:lpstr>
      <vt:lpstr>Consolas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Guidance-Level Policy Verification in Dual-Control Tool Agents</dc:title>
  <dc:creator>LLM/Agent Course Project</dc:creator>
  <dc:subject>PptxGenJS Presentation</dc:subject>
  <cp:lastModifiedBy>WPS_1705649104</cp:lastModifiedBy>
  <cp:revision>3</cp:revision>
  <dcterms:created xsi:type="dcterms:W3CDTF">2026-06-01T11:45:00Z</dcterms:created>
  <dcterms:modified xsi:type="dcterms:W3CDTF">2026-06-01T20:03:44Z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9F27D740AA3143D5BBD8F29B2969CD2B_12</vt:lpwstr>
  </property>
</Properties>
</file>